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7C32C7-1E94-4CFC-8DFC-4D1393315D62}">
  <a:tblStyle styleId="{5B7C32C7-1E94-4CFC-8DFC-4D1393315D6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765af5e49f93eade_4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h765af5e49f93eade_4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h765af5e49f93eade_4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765af5e49f93eade_4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h765af5e49f93eade_4_1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h765af5e49f93eade_4_1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765af5e49f93eade_4_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h765af5e49f93eade_4_6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h765af5e49f93eade_4_6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765af5e49f93eade_4_9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h765af5e49f93eade_4_9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h765af5e49f93eade_4_9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765af5e49f93eade_4_1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h765af5e49f93eade_4_10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h765af5e49f93eade_4_10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765af5e49f93eade_4_1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h765af5e49f93eade_4_11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h765af5e49f93eade_4_11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765af5e49f93eade_4_1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h765af5e49f93eade_4_14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765af5e49f93eade_4_14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765af5e49f93eade_4_1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h765af5e49f93eade_4_15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765af5e49f93eade_4_15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765af5e49f93eade_4_1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h765af5e49f93eade_4_17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h765af5e49f93eade_4_17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765af5e49f93eade_4_1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h765af5e49f93eade_4_19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h765af5e49f93eade_4_19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765af5e49f93eade_4_2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h765af5e49f93eade_4_22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h765af5e49f93eade_4_22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765af5e49f93eade_4_2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h765af5e49f93eade_4_24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h765af5e49f93eade_4_24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765af5e49f93eade_4_2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h765af5e49f93eade_4_26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h765af5e49f93eade_4_26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765af5e49f93eade_4_3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h765af5e49f93eade_4_31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h765af5e49f93eade_4_31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765af5e49f93eade_4_3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h765af5e49f93eade_4_32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h765af5e49f93eade_4_324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765af5e49f93eade_4_3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h765af5e49f93eade_4_33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h765af5e49f93eade_4_33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h765af5e49f93eade_4_3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h765af5e49f93eade_4_36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h765af5e49f93eade_4_36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765af5e49f93eade_4_3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h765af5e49f93eade_4_39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h765af5e49f93eade_4_39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h765af5e49f93eade_4_4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h765af5e49f93eade_4_40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h765af5e49f93eade_4_40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h765af5e49f93eade_4_4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h765af5e49f93eade_4_41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h765af5e49f93eade_4_41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h765af5e49f93eade_4_4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h765af5e49f93eade_4_45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h765af5e49f93eade_4_45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h765af5e49f93eade_4_4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h765af5e49f93eade_4_46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h765af5e49f93eade_4_464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239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3003525" y="593675"/>
            <a:ext cx="277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B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2B5B5"/>
                </a:solidFill>
                <a:latin typeface="Calibri"/>
                <a:ea typeface="Calibri"/>
                <a:cs typeface="Calibri"/>
                <a:sym typeface="Calibri"/>
              </a:rPr>
              <a:t>MANDAT DE CONSEIL · COMITÉ DE DIRECTION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505425" y="1840200"/>
            <a:ext cx="77700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Vélocité : faire de la donnée un véritable actif stratégique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2315775" y="3021113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Diagnostic, gouvernance et trajectoire à 12 mois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1608475" y="4054875"/>
            <a:ext cx="1902600" cy="263400"/>
          </a:xfrm>
          <a:prstGeom prst="roundRect">
            <a:avLst>
              <a:gd fmla="val 27778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CDO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620696" y="4054875"/>
            <a:ext cx="1902600" cy="263400"/>
          </a:xfrm>
          <a:prstGeom prst="roundRect">
            <a:avLst>
              <a:gd fmla="val 27778" name="adj"/>
            </a:avLst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Owner · Abonnés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632918" y="4054875"/>
            <a:ext cx="1902600" cy="263400"/>
          </a:xfrm>
          <a:prstGeom prst="roundRect">
            <a:avLst>
              <a:gd fmla="val 27778" name="adj"/>
            </a:avLst>
          </a:prstGeom>
          <a:solidFill>
            <a:srgbClr val="C24A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Owner · Véhicules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1608475" y="4420732"/>
            <a:ext cx="1902600" cy="263400"/>
          </a:xfrm>
          <a:prstGeom prst="roundRect">
            <a:avLst>
              <a:gd fmla="val 27778" name="adj"/>
            </a:avLst>
          </a:prstGeom>
          <a:solidFill>
            <a:srgbClr val="2F7D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Steward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620696" y="4420732"/>
            <a:ext cx="1902600" cy="263400"/>
          </a:xfrm>
          <a:prstGeom prst="roundRect">
            <a:avLst>
              <a:gd fmla="val 27778" name="adj"/>
            </a:avLst>
          </a:prstGeom>
          <a:solidFill>
            <a:srgbClr val="3D6F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Custodian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632918" y="4420732"/>
            <a:ext cx="1902600" cy="263400"/>
          </a:xfrm>
          <a:prstGeom prst="roundRect">
            <a:avLst>
              <a:gd fmla="val 27778" name="adj"/>
            </a:avLst>
          </a:prstGeom>
          <a:solidFill>
            <a:srgbClr val="B03A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3038700" y="3606550"/>
            <a:ext cx="306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Six consultants, six rôles du dispositif proposé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5" title="logoUSPN_avec-mar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95250"/>
            <a:ext cx="2084449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title="logo-ig-ip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9575" y="95250"/>
            <a:ext cx="208445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400"/>
              <a:buFont typeface="Cambria"/>
              <a:buNone/>
            </a:pPr>
            <a:r>
              <a:rPr b="1" lang="en" sz="24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Ce que nous allons vous montrer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57200" y="1005840"/>
            <a:ext cx="329184" cy="329184"/>
          </a:xfrm>
          <a:prstGeom prst="ellipse">
            <a:avLst/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960120" y="1005840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Diagnostic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840480" y="100584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577840" y="1033272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 Abonnés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629400" y="1033272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3D6F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Custodian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57200" y="1453896"/>
            <a:ext cx="329184" cy="329184"/>
          </a:xfrm>
          <a:prstGeom prst="ellipse">
            <a:avLst/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960120" y="1453896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Cadre de gouvernance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577840" y="1481328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C24A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 Véhicules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629400" y="1481328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3D6F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Custodian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57200" y="1901952"/>
            <a:ext cx="329184" cy="329184"/>
          </a:xfrm>
          <a:prstGeom prst="ellipse">
            <a:avLst/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960120" y="1901952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Organisation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577840" y="1929384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0B223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629400" y="1929384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C24A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 Véhicules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57200" y="2350008"/>
            <a:ext cx="329184" cy="329184"/>
          </a:xfrm>
          <a:prstGeom prst="ellipse">
            <a:avLst/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960120" y="2350008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Patrimoine et traçabilité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577840" y="2377440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2F7D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Steward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629400" y="2377440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 Abonnés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57200" y="2798064"/>
            <a:ext cx="329184" cy="329184"/>
          </a:xfrm>
          <a:prstGeom prst="ellipse">
            <a:avLst/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960120" y="279806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Qualité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577840" y="2825496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 Abonnés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6629400" y="2825496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C24A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 Véhicules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7680960" y="2825496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2F7D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Steward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57200" y="3246120"/>
            <a:ext cx="329184" cy="329184"/>
          </a:xfrm>
          <a:prstGeom prst="ellipse">
            <a:avLst/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960120" y="3246120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Fouille de données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577840" y="3273552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2F7D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Steward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629400" y="3273552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B03A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57200" y="3694176"/>
            <a:ext cx="329184" cy="329184"/>
          </a:xfrm>
          <a:prstGeom prst="ellipse">
            <a:avLst/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960120" y="3694176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Trajectoire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577840" y="3721608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3D6F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Custodian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6629400" y="3721608"/>
            <a:ext cx="1005840" cy="274320"/>
          </a:xfrm>
          <a:prstGeom prst="roundRect">
            <a:avLst>
              <a:gd fmla="val 33333" name="adj"/>
            </a:avLst>
          </a:prstGeom>
          <a:solidFill>
            <a:srgbClr val="0B223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Introduction par le CDO  Issa DIABIRA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A · DIAGNOSTIC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Owner Abonnés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Trois problèmes de données, hiérarchisés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57200" y="1143000"/>
            <a:ext cx="2651760" cy="278892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C24A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1143000" y="128016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12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C24A12"/>
                </a:solidFill>
                <a:latin typeface="Calibri"/>
                <a:ea typeface="Calibri"/>
                <a:cs typeface="Calibri"/>
                <a:sym typeface="Calibri"/>
              </a:rPr>
              <a:t>Définitions divergentes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594360" y="192024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« Abonné actif » : 3 sens. Disponibilité calculée ville par ville. Trajets : plus de 3 % d’écart entre rapport et tableau interne.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94360" y="297180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Priorité 1 : touche le reporting envoyés aux collectivités (45 % du CA) et 2 renouvellements dans 18 mois.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246120" y="1143000"/>
            <a:ext cx="2651760" cy="278892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3383280" y="1280160"/>
            <a:ext cx="457200" cy="457200"/>
          </a:xfrm>
          <a:prstGeom prst="ellipse">
            <a:avLst/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3931920" y="128016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Données IoT hétérogènes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3383280" y="192024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2 fournisseurs, formats et fréquences différents, véhicules localisés en pleine eau.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3383280" y="297180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Priorité 2 : alimente la disponibilité, la maintenance et le futur projet 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035040" y="1143000"/>
            <a:ext cx="2651760" cy="278892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172200" y="1280160"/>
            <a:ext cx="457200" cy="457200"/>
          </a:xfrm>
          <a:prstGeom prst="ellipse">
            <a:avLst/>
          </a:prstGeom>
          <a:solidFill>
            <a:srgbClr val="3D6F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720840" y="128016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FB6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3D6FB6"/>
                </a:solidFill>
                <a:latin typeface="Calibri"/>
                <a:ea typeface="Calibri"/>
                <a:cs typeface="Calibri"/>
                <a:sym typeface="Calibri"/>
              </a:rPr>
              <a:t>Identité abonné dupliquée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6172200" y="192024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181F2A"/>
                </a:solidFill>
              </a:rPr>
              <a:t>Même client dans 2 back-offices : 8 à 15 % de doublons, jamais mesurés (audit interne T1 2026).</a:t>
            </a:r>
            <a:endParaRPr sz="850">
              <a:solidFill>
                <a:srgbClr val="181F2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6172200" y="297180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Priorité 3 : freine le ciblage et fausse la base de l’objectif +30 %.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fmla="val 14545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Critère de hiérarchisation : le risque sur les contrats, puis effet sur l’indicateur le plus sensible (disponibilité), puis urgence.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A · DIAGNOSTIC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Owner Abonnés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Dimensions de qualité et impact sur les objectifs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8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{5B7C32C7-1E94-4CFC-8DFC-4D1393315D62}</a:tableStyleId>
              </a:tblPr>
              <a:tblGrid>
                <a:gridCol w="1554475"/>
                <a:gridCol w="1463050"/>
                <a:gridCol w="1828800"/>
                <a:gridCol w="3383275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Problème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Objectif touché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 estimé (hypothèse explicite)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Définitions divergentes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Cohérence, exactitude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Disponibilité 82 → 95 % ; contrats DSP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Les services ne comptent pas pareil, donc leurs chiffres ne sont pas cohérents. Les contrats avec les villes représentent 81 millions d'euros. Deux seront à renouveler bientôt, soit environ 15 millions en jeu. Si nos rapports sont faux, on risque de les perdre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en" sz="9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Données IoT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Validité, exactitude, actualité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Disponibilité 95 % ; maintenance −20 %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Si 5 % des positions sont fausses, notre mesure de disponibilité est fausse d'environ 5 points. Or on veut gagner 13 points. Donc presque la moitié de l'effort serait mal mesurée.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Doublons abonnés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Unicité, cohérence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Abonnés +30 %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Un même client peut apparaître deux fois. Sur 100 000 abonnés comptés, 8 000 à 15 000 pourraient être des doubles. Donc notre objectif de plus 30 % serait calculé sur une liste trop grande.</a:t>
                      </a:r>
                      <a:endParaRPr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18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Les chiffres sont des ordres de grandeur : la première action est de les mesurer (voir trajectoire).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30475" y="3454840"/>
            <a:ext cx="8229600" cy="777300"/>
          </a:xfrm>
          <a:prstGeom prst="roundRect">
            <a:avLst>
              <a:gd fmla="val 9412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713355" y="3454840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850">
                <a:solidFill>
                  <a:srgbClr val="FFFFFF"/>
                </a:solidFill>
              </a:rPr>
              <a:t>Dédoublonner fait baisser la base affichée : 100 000 déclarés → 85 000 à 92 000 abonnés réels (hypothèse). Base de référence du +30 % = abonnés dédoublonnés, mesurés à J+30, sinon on afficherait une baisse artificielle.</a:t>
            </a:r>
            <a:endParaRPr sz="85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A · DIAGNOSTIC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3D6F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 DIAWARA</a:t>
            </a: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Custodian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Problème de </a:t>
            </a: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système </a:t>
            </a: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ou problème de </a:t>
            </a: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données</a:t>
            </a: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 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57200" y="1143000"/>
            <a:ext cx="3931800" cy="246900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94360" y="1252728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Problèmes de DONNÉES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94360" y="1645920"/>
            <a:ext cx="365760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Aucun propriétaire ou responsable de données</a:t>
            </a:r>
            <a:endParaRPr sz="11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Trois sens d’« abonné actif »</a:t>
            </a:r>
            <a:endParaRPr sz="11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Règles de validité absentes (positions en pleine eau)</a:t>
            </a:r>
            <a:endParaRPr sz="11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Formules de disponibilité différentes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754880" y="114300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892040" y="12527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FB6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3D6FB6"/>
                </a:solidFill>
                <a:latin typeface="Calibri"/>
                <a:ea typeface="Calibri"/>
                <a:cs typeface="Calibri"/>
                <a:sym typeface="Calibri"/>
              </a:rPr>
              <a:t>Problèmes de SI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892040" y="1645920"/>
            <a:ext cx="365760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Deux back-offices abonnés non fusionnés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Deux formats de capteurs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Lac  des données quasi inutilisé</a:t>
            </a:r>
            <a:endParaRPr sz="11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Outil de maintenance dans 7 villes sur 11 ; CRM alimenté à la main</a:t>
            </a: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Réflexion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si on change d’outil, le problème disparaît-il ? Non, c’est un problème de données. Les deux se rejoignent : fusionner les back-offices sans règle de dédoublonnage déplace les doublons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B · GOUVERNANCE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C24A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Owner Véhicules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Trois principes qui tranchent </a:t>
            </a:r>
            <a:endParaRPr b="1" sz="2200">
              <a:solidFill>
                <a:srgbClr val="0B223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94360" y="128016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12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C24A12"/>
                </a:solidFill>
                <a:latin typeface="Calibri"/>
                <a:ea typeface="Calibri"/>
                <a:cs typeface="Calibri"/>
                <a:sym typeface="Calibri"/>
              </a:rPr>
              <a:t>P1 ·  une définition, un propriétaire métier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94360" y="25146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Arbitrage tranché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94360" y="278892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None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Chacun a son propre mot et son propre chiffre, et c'est le métier qui décide, pas l'informatique , Par exemple, "abonné actif" voulait dire trois choses différentes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246120" y="1143000"/>
            <a:ext cx="2651760" cy="338328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3383280" y="128016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P2 · Commun pour ce qui engage, local pour ce qui éclaire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383280" y="25146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Arbitrage tranché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383280" y="278892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None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Pour les chiffres du contrat, Bordeaux fait comme tout le monde. Pour le reste, elle est libre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172200" y="128016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FB6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3D6FB6"/>
                </a:solidFill>
                <a:latin typeface="Calibri"/>
                <a:ea typeface="Calibri"/>
                <a:cs typeface="Calibri"/>
                <a:sym typeface="Calibri"/>
              </a:rPr>
              <a:t>P3 · Pas d’usage sans qualité mesurée ni finalité autorisée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172200" y="25146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Arbitrage tranché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172200" y="278892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50"/>
              <a:buFont typeface="Calibri"/>
              <a:buNone/>
            </a:pPr>
            <a:r>
              <a:rPr lang="en" sz="11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On lance le projet A d'abord, et on mesure le problème avant d'acheter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B · GOUVERNANCE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C24A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Owner Véhicules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Politique de qualité : six règles, chacune rattachée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21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{5B7C32C7-1E94-4CFC-8DFC-4D1393315D62}</a:tableStyleId>
              </a:tblPr>
              <a:tblGrid>
                <a:gridCol w="457200"/>
                <a:gridCol w="6949450"/>
                <a:gridCol w="8229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Règle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Principe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Tout indicateur groupe a une fiche : définition, formule, propriétaire, date de validation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Toute donnée critique a un Data Owner nommé ; sans propriétaire, elle n’est pas publiée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 indicateurs contractuels sont calculés une fois, au centre, avec la même formule pour les 11 villes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Toute donnée critique est contrôlée à l’ingestion, avec seuil et score publié chaque mois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Toute anomalie passe par un circuit unique : ticket, triage par le steward sous 48 h, correction à la source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Aucun rapport ni modèle n’utilise une donnée sous seuil sans le signaler visiblement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B · GOUVERNANCE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3D6F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 DIAWARA</a:t>
            </a: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Custodian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L’intégration technique est nécessaire, mais elle ne suffit pas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158550" y="1051563"/>
            <a:ext cx="2834700" cy="3383400"/>
          </a:xfrm>
          <a:prstGeom prst="roundRect">
            <a:avLst>
              <a:gd fmla="val 2581" name="adj"/>
            </a:avLst>
          </a:prstGeom>
          <a:solidFill>
            <a:srgbClr val="E6EEF5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341430" y="1188723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Directeur des opérations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6341430" y="1508763"/>
            <a:ext cx="2469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1500"/>
              <a:buFont typeface="Cambria"/>
              <a:buNone/>
            </a:pPr>
            <a:r>
              <a:rPr i="1" lang="en" sz="15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« Il faut finir l’intégration des deux systèmes, le reste suivra. »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6341430" y="2834643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Là où il a raison : l’intégration est nécessaire, et c’est notre chantier de Custodian.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457195" y="1051575"/>
            <a:ext cx="5212200" cy="10515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94355" y="1161303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12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C24A12"/>
                </a:solidFill>
                <a:latin typeface="Calibri"/>
                <a:ea typeface="Calibri"/>
                <a:cs typeface="Calibri"/>
                <a:sym typeface="Calibri"/>
              </a:rPr>
              <a:t>1 · L’intégration ne tranche pas les définitions métier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594355" y="1554495"/>
            <a:ext cx="493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Même dans une base unifiée, « abonné actif » reste ambigu et le calcul de disponibilité doit être harmonisé.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57195" y="2194575"/>
            <a:ext cx="5212200" cy="10515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94355" y="2304303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12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C24A12"/>
                </a:solidFill>
                <a:latin typeface="Calibri"/>
                <a:ea typeface="Calibri"/>
                <a:cs typeface="Calibri"/>
                <a:sym typeface="Calibri"/>
              </a:rPr>
              <a:t>2 · Intégrer sans règle ne supprime pas les doublons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94355" y="2697495"/>
            <a:ext cx="493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Le taux est estimé entre 8 et 15 %, sans mesure précise. Sans règles de rapprochement et de dédoublonnage, l’intégration risque de transférer ces doublons dans le système cible.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457195" y="3337575"/>
            <a:ext cx="5212200" cy="10974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94355" y="3447303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12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C24A12"/>
                </a:solidFill>
                <a:latin typeface="Calibri"/>
                <a:ea typeface="Calibri"/>
                <a:cs typeface="Calibri"/>
                <a:sym typeface="Calibri"/>
              </a:rPr>
              <a:t>3 · L’infrastructure seule ne garantit pas l’usage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594355" y="3840495"/>
            <a:ext cx="493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Le lac de données existe depuis 2023 mais reste quasiment inutilisé ; les analystes manquent de documentation et de responsables identifiés.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C · ORGANISATION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0B223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Issa DIABIRA</a:t>
            </a: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CDO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Modèle opérationnel cible : fédéré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57200" y="1097280"/>
            <a:ext cx="1600200" cy="384048"/>
          </a:xfrm>
          <a:prstGeom prst="roundRect">
            <a:avLst>
              <a:gd fmla="val 23810" name="adj"/>
            </a:avLst>
          </a:prstGeom>
          <a:solidFill>
            <a:srgbClr val="8A94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Centralisé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2148840" y="1097280"/>
            <a:ext cx="1600200" cy="384048"/>
          </a:xfrm>
          <a:prstGeom prst="roundRect">
            <a:avLst>
              <a:gd fmla="val 23810" name="adj"/>
            </a:avLst>
          </a:prstGeom>
          <a:solidFill>
            <a:srgbClr val="8A94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Décentralisé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3840480" y="1097280"/>
            <a:ext cx="1600200" cy="384048"/>
          </a:xfrm>
          <a:prstGeom prst="roundRect">
            <a:avLst>
              <a:gd fmla="val 23810" name="adj"/>
            </a:avLst>
          </a:prstGeom>
          <a:solidFill>
            <a:srgbClr val="8A94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Réseau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532120" y="1097280"/>
            <a:ext cx="1600200" cy="384048"/>
          </a:xfrm>
          <a:prstGeom prst="roundRect">
            <a:avLst>
              <a:gd fmla="val 23810" name="adj"/>
            </a:avLst>
          </a:prstGeom>
          <a:solidFill>
            <a:srgbClr val="8A94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7223760" y="1097280"/>
            <a:ext cx="1600200" cy="384048"/>
          </a:xfrm>
          <a:prstGeom prst="roundRect">
            <a:avLst>
              <a:gd fmla="val 23810" name="adj"/>
            </a:avLst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Fédéré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457200" y="1691640"/>
            <a:ext cx="26517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594360" y="180136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2239"/>
                </a:solidFill>
                <a:latin typeface="Calibri"/>
                <a:ea typeface="Calibri"/>
                <a:cs typeface="Calibri"/>
                <a:sym typeface="Calibri"/>
              </a:rPr>
              <a:t>1 · Villes autonomes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94360" y="219456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11 directions négocient leur contrat et gèrent leurs équipes : un modèle centralisé serait rejeté (Bordeaux).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3246120" y="1691640"/>
            <a:ext cx="26517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3383280" y="180136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2239"/>
                </a:solidFill>
                <a:latin typeface="Calibri"/>
                <a:ea typeface="Calibri"/>
                <a:cs typeface="Calibri"/>
                <a:sym typeface="Calibri"/>
              </a:rPr>
              <a:t>2 · Chiffres comparables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3383280" y="219456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Le reporting collectivités exige une même formule partout : le décentralisé a produit les écarts inexpliqués. Les villes gardent une</a:t>
            </a:r>
            <a:endParaRPr sz="10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Liberté d’adaptation.</a:t>
            </a:r>
            <a:endParaRPr sz="10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035040" y="1691640"/>
            <a:ext cx="26517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172200" y="180136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2239"/>
                </a:solidFill>
                <a:latin typeface="Calibri"/>
                <a:ea typeface="Calibri"/>
                <a:cs typeface="Calibri"/>
                <a:sym typeface="Calibri"/>
              </a:rPr>
              <a:t>3 · Pas de nouvelle direction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6172200" y="219456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Faible maturité, aucune fonction data : un noyau léger + relais existants (référents SI, DPO).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Facteur de contingence : l’autonomie des unités opérationnelles (11 villes). Secondaire : la faible maturité data. Le centre fixe les règles, les villes les appliquent.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C · ORGANISATION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0B223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Issa DIABIRA</a:t>
            </a: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CDO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Modèle de rôles : qui, à quel niveau, sur quoi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24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{5B7C32C7-1E94-4CFC-8DFC-4D1393315D62}</a:tableStyleId>
              </a:tblPr>
              <a:tblGrid>
                <a:gridCol w="1280150"/>
                <a:gridCol w="3566150"/>
                <a:gridCol w="1097275"/>
                <a:gridCol w="22860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Rôle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 (casquette existante)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Niveau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Périmètre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CDO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Directeur financier (≈ 0,2 ETP) + Bureau des données de 3 postes redéployés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Stratégique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Groupe : trajectoire, indicateurs, lien DG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Abonnés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Directrice marketing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Tactique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Abonnés, identité, « abonné actif »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Véhicules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Directeur des opérations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Tactique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Véhicules, stations, trajets, maintenance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Steward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centraux + 1 par ville (adjoint du directeur, ≈ 20 %)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Opérationnel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Glossaire, lineage, anomalies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Custodian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Directeur des SI + 4 référents informatiques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Opérationnel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Implémentation, habilitations, contrôles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DPO en poste (rattaché au juridique)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Indépendant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RGPD, AIPD, usages personnels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8" name="Google Shape;258;p24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fmla="val 16000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Contrainte de la DG respectée : 0 direction créée. 4 casquettes, 13 stewards à temps partiel, 3 postes redéployés.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D · PATRIMOINE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2F7D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Steward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Extrait du glossaire : six termes structurants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25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{5B7C32C7-1E94-4CFC-8DFC-4D1393315D62}</a:tableStyleId>
              </a:tblPr>
              <a:tblGrid>
                <a:gridCol w="1371600"/>
                <a:gridCol w="3291850"/>
                <a:gridCol w="1097275"/>
                <a:gridCol w="24688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Définition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Propriétaire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Règle de contrôle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Abonné actif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Personne (identifiant unique) avec un abonnement valide à la date de mesure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identifiant par personne ; doublons ≤ 2 %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Véhicule disponible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Hors maintenance, charge ≥ 20 %, position valide, signal &lt; 30 min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 frais ; position en zone terrestre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Taux de disponibilité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 des stations ouvertes avec ≥ 1 véhicule disponible (fermetures planifiées exclues)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Formule unique au centre ; écart ville/groupe nul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Trajet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Déverrouillage puis verrouillage, &gt; 1 min et &gt; 50 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Écart rapport / tableau interne ≤ 0,5 %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Intervention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Acte de maintenance tracé (date, véhicule, durée)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100 % saisi dans l’outil, plus de classeurs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Abonné unique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Identifiant maître réunissant les 2 back-offices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Doublons résiduels ≤ 2 %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25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Seuils proposés, à valider par les Owners en Conseil.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D · PATRIMOINE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Owner Abonnés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« Abonné actif » : trois entrées, pas une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57200" y="1143000"/>
            <a:ext cx="26517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Abonné actif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94360" y="16916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Abonnement valide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594360" y="21031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Owner : marketing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3246120" y="1143000"/>
            <a:ext cx="26517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12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C24A12"/>
                </a:solidFill>
                <a:latin typeface="Calibri"/>
                <a:ea typeface="Calibri"/>
                <a:cs typeface="Calibri"/>
                <a:sym typeface="Calibri"/>
              </a:rPr>
              <a:t>Abonné payant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3383280" y="16916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Abonnement payé sur le mois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3383280" y="21031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Owner : finance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6035040" y="1143000"/>
            <a:ext cx="26517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FB6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3D6FB6"/>
                </a:solidFill>
                <a:latin typeface="Calibri"/>
                <a:ea typeface="Calibri"/>
                <a:cs typeface="Calibri"/>
                <a:sym typeface="Calibri"/>
              </a:rPr>
              <a:t>Abonné utilisateur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>
            <a:off x="6172200" y="16916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≥ 1 trajet en 30 jours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6172200" y="21031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Owner : opérations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457200" y="2697480"/>
            <a:ext cx="40233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594360" y="28072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2239"/>
                </a:solidFill>
                <a:latin typeface="Calibri"/>
                <a:ea typeface="Calibri"/>
                <a:cs typeface="Calibri"/>
                <a:sym typeface="Calibri"/>
              </a:rPr>
              <a:t>Règle de granularité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594360" y="3200400"/>
            <a:ext cx="3749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Un terme = un concept = un propriétaire.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181F2A"/>
                </a:solidFill>
              </a:rPr>
              <a:t>Si deux définitions peuvent être vraies en même temps pour la même personne, ce sont deux concepts et non deux versions.</a:t>
            </a:r>
            <a:endParaRPr sz="850">
              <a:solidFill>
                <a:srgbClr val="181F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181F2A"/>
                </a:solidFill>
              </a:rPr>
              <a:t>Objectif +30 % mesuré sur « abonné actif » (marketing), après dédoublonnage. Prérequis commun : 1 identifiant unique par personne.</a:t>
            </a:r>
            <a:endParaRPr sz="850">
              <a:solidFill>
                <a:srgbClr val="181F2A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4663440" y="2697480"/>
            <a:ext cx="40233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4800600" y="28072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2239"/>
                </a:solidFill>
                <a:latin typeface="Calibri"/>
                <a:ea typeface="Calibri"/>
                <a:cs typeface="Calibri"/>
                <a:sym typeface="Calibri"/>
              </a:rPr>
              <a:t>Exemple qui le prouve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4800600" y="3200400"/>
            <a:ext cx="3749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Client au forfait annuel payé, sans trajet depuis 45 jours : actif oui, payant oui, utilisateur non. Trois réponses justes à trois questions différentes.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D · TRAÇABILITÉ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2F7D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Steward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Lineage du taux de disponibilité, du capteur au rapport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457200" y="1188720"/>
            <a:ext cx="1463040" cy="731520"/>
          </a:xfrm>
          <a:prstGeom prst="roundRect">
            <a:avLst>
              <a:gd fmla="val 10000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457200" y="11887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Capteurs IoT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1947672" y="1444752"/>
            <a:ext cx="18288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673"/>
          </a:solidFill>
          <a:ln cap="flat" cmpd="sng" w="12700">
            <a:solidFill>
              <a:srgbClr val="5B6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7"/>
          <p:cNvSpPr/>
          <p:nvPr/>
        </p:nvSpPr>
        <p:spPr>
          <a:xfrm>
            <a:off x="457200" y="2057400"/>
            <a:ext cx="1463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530352" y="2130552"/>
            <a:ext cx="13167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2 fournisseurs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530352" y="2697480"/>
            <a:ext cx="13167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Contrôle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530352" y="2880360"/>
            <a:ext cx="13167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Position valide, format normalisé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2148840" y="1188720"/>
            <a:ext cx="1463040" cy="731520"/>
          </a:xfrm>
          <a:prstGeom prst="roundRect">
            <a:avLst>
              <a:gd fmla="val 10000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2148840" y="11887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Plateforme IoT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3639312" y="1444752"/>
            <a:ext cx="18288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673"/>
          </a:solidFill>
          <a:ln cap="flat" cmpd="sng" w="12700">
            <a:solidFill>
              <a:srgbClr val="5B6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2148840" y="2057400"/>
            <a:ext cx="1463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2221992" y="2130552"/>
            <a:ext cx="13167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Harmonisation des 2 formats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2221992" y="2697480"/>
            <a:ext cx="13167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Contrôle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2221992" y="2880360"/>
            <a:ext cx="13167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Fraîcheur &lt; 30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3840480" y="1188720"/>
            <a:ext cx="1463040" cy="731520"/>
          </a:xfrm>
          <a:prstGeom prst="roundRect">
            <a:avLst>
              <a:gd fmla="val 10000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3840480" y="11887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Entrepôt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5330952" y="1444752"/>
            <a:ext cx="18288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673"/>
          </a:solidFill>
          <a:ln cap="flat" cmpd="sng" w="12700">
            <a:solidFill>
              <a:srgbClr val="5B6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7"/>
          <p:cNvSpPr/>
          <p:nvPr/>
        </p:nvSpPr>
        <p:spPr>
          <a:xfrm>
            <a:off x="3840480" y="2057400"/>
            <a:ext cx="1463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3913632" y="2130552"/>
            <a:ext cx="13167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Lot quotidien + statuts maintenance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3913632" y="2697480"/>
            <a:ext cx="13167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Contrôle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 txBox="1"/>
          <p:nvPr/>
        </p:nvSpPr>
        <p:spPr>
          <a:xfrm>
            <a:off x="3913632" y="2880360"/>
            <a:ext cx="13167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100 % des véhicules présents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532120" y="1188720"/>
            <a:ext cx="1463040" cy="731520"/>
          </a:xfrm>
          <a:prstGeom prst="roundRect">
            <a:avLst>
              <a:gd fmla="val 10000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5532120" y="11887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 du taux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7022592" y="1444752"/>
            <a:ext cx="18288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673"/>
          </a:solidFill>
          <a:ln cap="flat" cmpd="sng" w="12700">
            <a:solidFill>
              <a:srgbClr val="5B6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5532120" y="2057400"/>
            <a:ext cx="1463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5605272" y="2130552"/>
            <a:ext cx="13167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Formule unique, validée par l’Owner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5605272" y="2697480"/>
            <a:ext cx="13167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Contrôle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5605272" y="2880360"/>
            <a:ext cx="13167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Recalcul indépendant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7223760" y="1188720"/>
            <a:ext cx="1463040" cy="731520"/>
          </a:xfrm>
          <a:prstGeom prst="roundRect">
            <a:avLst>
              <a:gd fmla="val 10000" name="adj"/>
            </a:avLst>
          </a:prstGeom>
          <a:solidFill>
            <a:srgbClr val="C24A12"/>
          </a:solidFill>
          <a:ln cap="flat" cmpd="sng" w="12700">
            <a:solidFill>
              <a:srgbClr val="C24A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7223760" y="118872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Rapport collectivité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7223760" y="2057400"/>
            <a:ext cx="1463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7296912" y="2130552"/>
            <a:ext cx="13167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Validé avant envoi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 txBox="1"/>
          <p:nvPr/>
        </p:nvSpPr>
        <p:spPr>
          <a:xfrm>
            <a:off x="7296912" y="2697480"/>
            <a:ext cx="13167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Contrôle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7296912" y="2880360"/>
            <a:ext cx="13167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Écart ≤ 0,5 % vs interne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E · QUALITÉ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0B84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Owner Abonnés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Trois données critiques et leur critère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28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{5B7C32C7-1E94-4CFC-8DFC-4D1393315D62}</a:tableStyleId>
              </a:tblPr>
              <a:tblGrid>
                <a:gridCol w="2103125"/>
                <a:gridCol w="2103125"/>
                <a:gridCol w="2194550"/>
                <a:gridCol w="18288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Donnée critique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Exposition contractuelle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Usages en aval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Coût d’une erreur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 et état du véhicule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●●●  pénalités de disponibilité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●●●  projet A, maintenance, rapport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●●●  rééquilibrage à tort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Trajet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●●●  reporting mensuel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●●   facturation, pilotage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●●   litige avec collectivité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Identifiant abonné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     indirecte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●●●  CRM, facturation, projet 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●●   campagnes perdues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5" name="Google Shape;355;p28"/>
          <p:cNvSpPr/>
          <p:nvPr/>
        </p:nvSpPr>
        <p:spPr>
          <a:xfrm>
            <a:off x="457200" y="3200400"/>
            <a:ext cx="8229600" cy="1005840"/>
          </a:xfrm>
          <a:prstGeom prst="roundRect">
            <a:avLst>
              <a:gd fmla="val 7273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640080" y="3200400"/>
            <a:ext cx="7863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Critère de criticité : exposition contractuelle ou réglementaire × nombre d’usages en aval × coût d’une erreur. Écartées : la charge batterie seule et l’historique de paiement, à faible effet sur les objectifs 2 ans.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8"/>
          <p:cNvSpPr txBox="1"/>
          <p:nvPr/>
        </p:nvSpPr>
        <p:spPr>
          <a:xfrm>
            <a:off x="457200" y="259997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181F2A"/>
                </a:solidFill>
              </a:rPr>
              <a:t>Identifiant abonné : critique car il alimente 3 usages en aval (CRM, facturation, projet B) et conditionne la mesure de l’objectif +30 %. Historique de paiement écarté ici ; il redeviendrait critique avec le projet B.</a:t>
            </a:r>
            <a:endParaRPr sz="850">
              <a:solidFill>
                <a:srgbClr val="181F2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5B66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E · QUALITÉ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C24A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Owner Véhicules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Règles de contrôle, seuils et justification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8" name="Google Shape;368;p29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{5B7C32C7-1E94-4CFC-8DFC-4D1393315D62}</a:tableStyleId>
              </a:tblPr>
              <a:tblGrid>
                <a:gridCol w="1280150"/>
                <a:gridCol w="1188725"/>
                <a:gridCol w="2468875"/>
                <a:gridCol w="1463050"/>
                <a:gridCol w="18288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Donnée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Règle de contrôle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Seuil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Pourquoi ce seuil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 véhicule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Validité, actualité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 en zone terrestre d’exploitation ; signal &lt; 30 min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98 % conformes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5 % d’erreur coûtent ≈ 5 pts de disponibilité ; 98 % laisse &lt; 2 pts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Trajet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Cohérence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Rapprochement rapport collectivité / tableau interne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Écart ≤ 0,5 %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Écart actuel &gt; 3 % ; 0,5 % tolère le décalage des lots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Identifiant abonné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Unicité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 identifiant maître par personne (courriel, téléphone, nom)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Doublons ≤ 2 % ; alerte à 5 %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Départ à 8-15 % ; zéro est irréaliste (homonymes)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9" name="Google Shape;369;p29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Seuils tenables : mesurés chaque mois, révisés en Conseil des Owners une fois la baseline connue.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0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E · QUALITÉ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2F7D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Steward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Cause racine : les « 5 pourquoi »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457200" y="105156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Constat : la disponibilité est calculée différemment selon les villes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457200" y="1371600"/>
            <a:ext cx="484632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594360" y="13716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1  Chaque ville utilise ses propres extractions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457200" y="2029968"/>
            <a:ext cx="484632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594360" y="202996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2  Aucune formule unique n’est publiée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0"/>
          <p:cNvSpPr/>
          <p:nvPr/>
        </p:nvSpPr>
        <p:spPr>
          <a:xfrm>
            <a:off x="457200" y="2688336"/>
            <a:ext cx="484632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594360" y="268833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3  Personne n’a l’autorité de la fixer (la DSI refuse de définir)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0"/>
          <p:cNvSpPr/>
          <p:nvPr/>
        </p:nvSpPr>
        <p:spPr>
          <a:xfrm>
            <a:off x="457200" y="3346704"/>
            <a:ext cx="484632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0"/>
          <p:cNvSpPr txBox="1"/>
          <p:nvPr/>
        </p:nvSpPr>
        <p:spPr>
          <a:xfrm>
            <a:off x="594360" y="334670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4  Aucun propriétaire ni instance d’arbitrage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457200" y="4005072"/>
            <a:ext cx="4846320" cy="502920"/>
          </a:xfrm>
          <a:prstGeom prst="roundRect">
            <a:avLst>
              <a:gd fmla="val 14545" name="adj"/>
            </a:avLst>
          </a:prstGeom>
          <a:solidFill>
            <a:srgbClr val="C24A12"/>
          </a:solidFill>
          <a:ln cap="flat" cmpd="sng" w="12700">
            <a:solidFill>
              <a:srgbClr val="C24A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594360" y="400507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 Cause racine : le dispositif de gouvernance n’existe pas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0"/>
          <p:cNvSpPr/>
          <p:nvPr/>
        </p:nvSpPr>
        <p:spPr>
          <a:xfrm>
            <a:off x="5577840" y="1097280"/>
            <a:ext cx="310896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5715000" y="120700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Correctives (réparer)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0"/>
          <p:cNvSpPr txBox="1"/>
          <p:nvPr/>
        </p:nvSpPr>
        <p:spPr>
          <a:xfrm>
            <a:off x="5715000" y="1600200"/>
            <a:ext cx="2834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Recalculer 12 mois avec la formule unique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Dédoublonner et purger les positions aberrantes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5577840" y="2971800"/>
            <a:ext cx="310896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5715000" y="308152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D1E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2F7D1E"/>
                </a:solidFill>
                <a:latin typeface="Calibri"/>
                <a:ea typeface="Calibri"/>
                <a:cs typeface="Calibri"/>
                <a:sym typeface="Calibri"/>
              </a:rPr>
              <a:t>Préventives (empêcher)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0"/>
          <p:cNvSpPr txBox="1"/>
          <p:nvPr/>
        </p:nvSpPr>
        <p:spPr>
          <a:xfrm>
            <a:off x="5715000" y="3474720"/>
            <a:ext cx="2834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Owners nommés (R2)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Formule unique centrale (R3)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Contrôle à l’ingestion (R4)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F · FOUILLE DE DONNÉES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2F7D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Présente : Steward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Nous lançons le projet A d’abord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1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457200" y="1097280"/>
            <a:ext cx="393192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1"/>
          <p:cNvSpPr txBox="1"/>
          <p:nvPr/>
        </p:nvSpPr>
        <p:spPr>
          <a:xfrm>
            <a:off x="594360" y="12070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2239"/>
                </a:solidFill>
                <a:latin typeface="Calibri"/>
                <a:ea typeface="Calibri"/>
                <a:cs typeface="Calibri"/>
                <a:sym typeface="Calibri"/>
              </a:rPr>
              <a:t>Pourquoi A avant B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 txBox="1"/>
          <p:nvPr/>
        </p:nvSpPr>
        <p:spPr>
          <a:xfrm>
            <a:off x="594360" y="160020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A vise directement les 95 % et la maintenance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Données sur véhicules, pas sur des personnes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B : risque juridique, DPO non associé, doublons non traités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4800600" y="12070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484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8484"/>
                </a:solidFill>
                <a:latin typeface="Calibri"/>
                <a:ea typeface="Calibri"/>
                <a:cs typeface="Calibri"/>
                <a:sym typeface="Calibri"/>
              </a:rPr>
              <a:t>Cadrage métier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4800600" y="1600200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Finalité : anticiper les ruptures par station et créneau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Succès : disponibilité 82 → 90 % sur 2 villes pilotes à 6 mois ; rappel ≥ 80 % des ruptures 2 h avant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Données : IoT, trajets, maintenance, météo ; propriétaires : Ops, DSI, villes pilotes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457200" y="2926080"/>
            <a:ext cx="1417320" cy="548640"/>
          </a:xfrm>
          <a:prstGeom prst="chevron">
            <a:avLst>
              <a:gd fmla="val 50000" name="adj"/>
            </a:avLst>
          </a:prstGeom>
          <a:solidFill>
            <a:srgbClr val="0B848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1"/>
          <p:cNvSpPr txBox="1"/>
          <p:nvPr/>
        </p:nvSpPr>
        <p:spPr>
          <a:xfrm>
            <a:off x="658368" y="292608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Compréhension métier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1"/>
          <p:cNvSpPr/>
          <p:nvPr/>
        </p:nvSpPr>
        <p:spPr>
          <a:xfrm>
            <a:off x="1828800" y="2926080"/>
            <a:ext cx="1417320" cy="548640"/>
          </a:xfrm>
          <a:prstGeom prst="chevron">
            <a:avLst>
              <a:gd fmla="val 50000" name="adj"/>
            </a:avLst>
          </a:prstGeom>
          <a:solidFill>
            <a:srgbClr val="0B848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2029968" y="292608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3200400" y="2926080"/>
            <a:ext cx="1417320" cy="548640"/>
          </a:xfrm>
          <a:prstGeom prst="chevron">
            <a:avLst>
              <a:gd fmla="val 50000" name="adj"/>
            </a:avLst>
          </a:prstGeom>
          <a:solidFill>
            <a:srgbClr val="8A94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1"/>
          <p:cNvSpPr txBox="1"/>
          <p:nvPr/>
        </p:nvSpPr>
        <p:spPr>
          <a:xfrm>
            <a:off x="3401568" y="292608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Préparation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4572000" y="2926080"/>
            <a:ext cx="1417320" cy="548640"/>
          </a:xfrm>
          <a:prstGeom prst="chevron">
            <a:avLst>
              <a:gd fmla="val 50000" name="adj"/>
            </a:avLst>
          </a:prstGeom>
          <a:solidFill>
            <a:srgbClr val="8A94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1"/>
          <p:cNvSpPr txBox="1"/>
          <p:nvPr/>
        </p:nvSpPr>
        <p:spPr>
          <a:xfrm>
            <a:off x="4773168" y="292608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Modélisation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5943600" y="2926080"/>
            <a:ext cx="1417320" cy="548640"/>
          </a:xfrm>
          <a:prstGeom prst="chevron">
            <a:avLst>
              <a:gd fmla="val 50000" name="adj"/>
            </a:avLst>
          </a:prstGeom>
          <a:solidFill>
            <a:srgbClr val="8A94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1"/>
          <p:cNvSpPr txBox="1"/>
          <p:nvPr/>
        </p:nvSpPr>
        <p:spPr>
          <a:xfrm>
            <a:off x="6144768" y="292608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Évaluation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7315200" y="2926080"/>
            <a:ext cx="1417320" cy="548640"/>
          </a:xfrm>
          <a:prstGeom prst="chevron">
            <a:avLst>
              <a:gd fmla="val 50000" name="adj"/>
            </a:avLst>
          </a:prstGeom>
          <a:solidFill>
            <a:srgbClr val="8A94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1"/>
          <p:cNvSpPr txBox="1"/>
          <p:nvPr/>
        </p:nvSpPr>
        <p:spPr>
          <a:xfrm>
            <a:off x="7516368" y="292608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Déploiement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1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1"/>
          <p:cNvSpPr txBox="1"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Cadre CRISP-DM. Les deux premières phases sont nos priorités : la préparation dépend de la qualité IoT (seuil 98 %), d’où l’enchaînement avec la section 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F · FOUILLE DE DONNÉES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B03A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Mamoudou SIDIBE : DPO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Deux risques de qualité, deux biais, et comment les tester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7" name="Google Shape;437;p32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{5B7C32C7-1E94-4CFC-8DFC-4D1393315D62}</a:tableStyleId>
              </a:tblPr>
              <a:tblGrid>
                <a:gridCol w="1737350"/>
                <a:gridCol w="3566150"/>
                <a:gridCol w="2926075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qui peut fausser le modèle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Moyen de le tester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Risque qualité 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 deux fournisseurs IoT peuvent fournir des positions incorrectes ou à des fréquences différentes.</a:t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 les données GPS sont fausses ou incomplètes, le modèle apprend une mauvaise réalité et ses prédictions deviennent moins fiables. </a:t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Pour le tester, nous allons calculer le taux de positions valides pour chaque fournisseur, avec un seuil de 98 %.</a:t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Risque qualité 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Dans quatre villes, les pannes sont encore notées dans des classeurs et peuvent donc manquer dans les données </a:t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Nous allons mesurer la complétude par ville et comparer les performances du modèle avec et sans ces villes.</a:t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Biais 1 : représentativité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Certaines villes ou certains fournisseurs sont plus représentés que d’autres. </a:t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 problème n'est pas que les données sont fausses, mais qu'une partie de la réalité est sous-représentée. </a:t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Nous allons mesurer le rappel par ville et par fournisseur, avec un écart maximal de 5 points.</a:t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Biais 2 : demande censurée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Zéro trajet ne signifie pas forcément zéro demande : une station vide peut empêcher les utilisateurs de louer un vélo. 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Nous allons donc comparer les prévisions avec les ouvertures de l'application sans trajet enregistré et avec les réclamations des utilisateurs. 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1F2A3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F · FOUILLE DE DONNÉES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3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B03A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Mamoudou SIDIBE </a:t>
            </a: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DPO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3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Projet B : qualification réglementaire ; A : gouvernance en production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3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3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3"/>
          <p:cNvSpPr/>
          <p:nvPr/>
        </p:nvSpPr>
        <p:spPr>
          <a:xfrm>
            <a:off x="457200" y="1097280"/>
            <a:ext cx="4206300" cy="342900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49" name="Google Shape;449;p33"/>
          <p:cNvSpPr txBox="1"/>
          <p:nvPr/>
        </p:nvSpPr>
        <p:spPr>
          <a:xfrm>
            <a:off x="594360" y="120700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5B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B03A5B"/>
                </a:solidFill>
                <a:latin typeface="Calibri"/>
                <a:ea typeface="Calibri"/>
                <a:cs typeface="Calibri"/>
                <a:sym typeface="Calibri"/>
              </a:rPr>
              <a:t>Projet B (non retenu en premier) - </a:t>
            </a:r>
            <a:r>
              <a:rPr lang="en" sz="1450">
                <a:solidFill>
                  <a:srgbClr val="C24A12"/>
                </a:solidFill>
                <a:latin typeface="Calibri"/>
                <a:ea typeface="Calibri"/>
                <a:cs typeface="Calibri"/>
                <a:sym typeface="Calibri"/>
              </a:rPr>
              <a:t>Évaluer un client </a:t>
            </a:r>
            <a:endParaRPr sz="1450">
              <a:solidFill>
                <a:srgbClr val="C24A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A5B"/>
              </a:buClr>
              <a:buSzPts val="1250"/>
              <a:buFont typeface="Calibri"/>
              <a:buNone/>
            </a:pPr>
            <a:r>
              <a:t/>
            </a:r>
            <a:endParaRPr b="1" sz="1250">
              <a:solidFill>
                <a:srgbClr val="B03A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3"/>
          <p:cNvSpPr txBox="1"/>
          <p:nvPr/>
        </p:nvSpPr>
        <p:spPr>
          <a:xfrm>
            <a:off x="594350" y="1600200"/>
            <a:ext cx="3931800" cy="19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Profilage, et refus de location automatique : décision à effet significatif (RGPD, art. 22)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Analyse d’impact (AIPD) obligatoire avant tout développement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Base légale, minimisation, durée de conservation à justifier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Proche du scoring de solvabilité : classement « haut risque » (AI Act) à confirmer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Conséquence : pas de refus automatique, humain dans la boucle, DPO associé</a:t>
            </a:r>
            <a:endParaRPr sz="10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C24A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3"/>
          <p:cNvSpPr/>
          <p:nvPr/>
        </p:nvSpPr>
        <p:spPr>
          <a:xfrm>
            <a:off x="4846320" y="1097280"/>
            <a:ext cx="3840600" cy="342900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3"/>
          <p:cNvSpPr txBox="1"/>
          <p:nvPr/>
        </p:nvSpPr>
        <p:spPr>
          <a:xfrm>
            <a:off x="4983480" y="1207008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12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C24A12"/>
                </a:solidFill>
                <a:latin typeface="Calibri"/>
                <a:ea typeface="Calibri"/>
                <a:cs typeface="Calibri"/>
                <a:sym typeface="Calibri"/>
              </a:rPr>
              <a:t>Modèle A en production - </a:t>
            </a:r>
            <a:r>
              <a:rPr lang="en" sz="1450">
                <a:solidFill>
                  <a:srgbClr val="C24A12"/>
                </a:solidFill>
                <a:latin typeface="Calibri"/>
                <a:ea typeface="Calibri"/>
                <a:cs typeface="Calibri"/>
                <a:sym typeface="Calibri"/>
              </a:rPr>
              <a:t>Prévoir les ruptures </a:t>
            </a:r>
            <a:endParaRPr sz="1450">
              <a:solidFill>
                <a:srgbClr val="C24A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12"/>
              </a:buClr>
              <a:buSzPts val="1250"/>
              <a:buFont typeface="Calibri"/>
              <a:buNone/>
            </a:pPr>
            <a:r>
              <a:t/>
            </a:r>
            <a:endParaRPr b="1" sz="1250">
              <a:solidFill>
                <a:srgbClr val="C24A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3"/>
          <p:cNvSpPr txBox="1"/>
          <p:nvPr/>
        </p:nvSpPr>
        <p:spPr>
          <a:xfrm>
            <a:off x="4983480" y="1600200"/>
            <a:ext cx="35661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Propriétaire du modèle : Owner Véhicules (Model)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Suivi mensuel de la dérive ; réentraînement si rappel &lt; 75 %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Registre des versions et des décisions(historique)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Habilitations gérées par le Custodian (qui peut accéder et qui non)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Revue trimestrielle au Conseil des Owners</a:t>
            </a:r>
            <a:endParaRPr sz="10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Char char="•"/>
            </a:pPr>
            <a:r>
              <a:t/>
            </a:r>
            <a:endParaRPr sz="1050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C24A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4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G · TRAJECTOIRE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3D6F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 DIAWARA</a:t>
            </a: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Custodian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4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Feuille de route à 12 mois en 7 étapes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4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4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4"/>
          <p:cNvSpPr txBox="1"/>
          <p:nvPr/>
        </p:nvSpPr>
        <p:spPr>
          <a:xfrm>
            <a:off x="457200" y="10972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 Mandat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2926080" y="1143000"/>
            <a:ext cx="5760720" cy="274320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4"/>
          <p:cNvSpPr txBox="1"/>
          <p:nvPr/>
        </p:nvSpPr>
        <p:spPr>
          <a:xfrm>
            <a:off x="45720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2.  État des lieux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2926080" y="1600200"/>
            <a:ext cx="5760720" cy="274320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457200" y="20116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3.  Principes et politique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2926080" y="2057400"/>
            <a:ext cx="5760720" cy="274320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4"/>
          <p:cNvSpPr txBox="1"/>
          <p:nvPr/>
        </p:nvSpPr>
        <p:spPr>
          <a:xfrm>
            <a:off x="457200" y="24688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4.  Rôles et comités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4"/>
          <p:cNvSpPr/>
          <p:nvPr/>
        </p:nvSpPr>
        <p:spPr>
          <a:xfrm>
            <a:off x="2926080" y="2514600"/>
            <a:ext cx="5760720" cy="274320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4"/>
          <p:cNvSpPr txBox="1"/>
          <p:nvPr/>
        </p:nvSpPr>
        <p:spPr>
          <a:xfrm>
            <a:off x="457200" y="29260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Outillage &amp; implémentation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4"/>
          <p:cNvSpPr/>
          <p:nvPr/>
        </p:nvSpPr>
        <p:spPr>
          <a:xfrm>
            <a:off x="2926080" y="2971800"/>
            <a:ext cx="5760720" cy="274320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4"/>
          <p:cNvSpPr txBox="1"/>
          <p:nvPr/>
        </p:nvSpPr>
        <p:spPr>
          <a:xfrm>
            <a:off x="457200" y="33832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6. Pilote puis déploiement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4"/>
          <p:cNvSpPr/>
          <p:nvPr/>
        </p:nvSpPr>
        <p:spPr>
          <a:xfrm>
            <a:off x="2926080" y="3429000"/>
            <a:ext cx="5760720" cy="274320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4"/>
          <p:cNvSpPr txBox="1"/>
          <p:nvPr/>
        </p:nvSpPr>
        <p:spPr>
          <a:xfrm>
            <a:off x="457200" y="3840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7. Mesure et amélioration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>
            <a:off x="2926080" y="3886200"/>
            <a:ext cx="5760720" cy="274320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4"/>
          <p:cNvSpPr/>
          <p:nvPr/>
        </p:nvSpPr>
        <p:spPr>
          <a:xfrm>
            <a:off x="2926080" y="1143000"/>
            <a:ext cx="480060" cy="274320"/>
          </a:xfrm>
          <a:prstGeom prst="roundRect">
            <a:avLst>
              <a:gd fmla="val 16667" name="adj"/>
            </a:avLst>
          </a:prstGeom>
          <a:solidFill>
            <a:srgbClr val="0B848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4"/>
          <p:cNvSpPr/>
          <p:nvPr/>
        </p:nvSpPr>
        <p:spPr>
          <a:xfrm>
            <a:off x="2926080" y="1600200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0B848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4"/>
          <p:cNvSpPr/>
          <p:nvPr/>
        </p:nvSpPr>
        <p:spPr>
          <a:xfrm>
            <a:off x="3406140" y="2057400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0B848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4"/>
          <p:cNvSpPr/>
          <p:nvPr/>
        </p:nvSpPr>
        <p:spPr>
          <a:xfrm>
            <a:off x="3886200" y="2514600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0B848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4"/>
          <p:cNvSpPr/>
          <p:nvPr/>
        </p:nvSpPr>
        <p:spPr>
          <a:xfrm>
            <a:off x="4366260" y="2971800"/>
            <a:ext cx="1440180" cy="274320"/>
          </a:xfrm>
          <a:prstGeom prst="roundRect">
            <a:avLst>
              <a:gd fmla="val 16667" name="adj"/>
            </a:avLst>
          </a:prstGeom>
          <a:solidFill>
            <a:srgbClr val="0B223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4"/>
          <p:cNvSpPr/>
          <p:nvPr/>
        </p:nvSpPr>
        <p:spPr>
          <a:xfrm>
            <a:off x="5326380" y="3429000"/>
            <a:ext cx="2400300" cy="274320"/>
          </a:xfrm>
          <a:prstGeom prst="roundRect">
            <a:avLst>
              <a:gd fmla="val 16667" name="adj"/>
            </a:avLst>
          </a:prstGeom>
          <a:solidFill>
            <a:srgbClr val="0B223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4"/>
          <p:cNvSpPr/>
          <p:nvPr/>
        </p:nvSpPr>
        <p:spPr>
          <a:xfrm>
            <a:off x="7246620" y="3886200"/>
            <a:ext cx="1440180" cy="274320"/>
          </a:xfrm>
          <a:prstGeom prst="roundRect">
            <a:avLst>
              <a:gd fmla="val 16667" name="adj"/>
            </a:avLst>
          </a:prstGeom>
          <a:solidFill>
            <a:srgbClr val="C24A1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4"/>
          <p:cNvSpPr txBox="1"/>
          <p:nvPr/>
        </p:nvSpPr>
        <p:spPr>
          <a:xfrm>
            <a:off x="2926080" y="42976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4"/>
          <p:cNvSpPr txBox="1"/>
          <p:nvPr/>
        </p:nvSpPr>
        <p:spPr>
          <a:xfrm>
            <a:off x="3886200" y="42976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 txBox="1"/>
          <p:nvPr/>
        </p:nvSpPr>
        <p:spPr>
          <a:xfrm>
            <a:off x="5326380" y="42976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 txBox="1"/>
          <p:nvPr/>
        </p:nvSpPr>
        <p:spPr>
          <a:xfrm>
            <a:off x="6766560" y="42976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M9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 txBox="1"/>
          <p:nvPr/>
        </p:nvSpPr>
        <p:spPr>
          <a:xfrm>
            <a:off x="8206740" y="42976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M12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5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G · TRAJECTOIRE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5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0B223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Issa DIABIRA</a:t>
            </a: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CDO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5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30 premiers jours et indicateurs de suivi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5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5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4754875" y="1097280"/>
            <a:ext cx="3931800" cy="342900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5"/>
          <p:cNvSpPr txBox="1"/>
          <p:nvPr/>
        </p:nvSpPr>
        <p:spPr>
          <a:xfrm>
            <a:off x="4892035" y="1207008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2239"/>
                </a:solidFill>
                <a:latin typeface="Calibri"/>
                <a:ea typeface="Calibri"/>
                <a:cs typeface="Calibri"/>
                <a:sym typeface="Calibri"/>
              </a:rPr>
              <a:t>Trois actions dans les 30 jours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5"/>
          <p:cNvSpPr txBox="1"/>
          <p:nvPr/>
        </p:nvSpPr>
        <p:spPr>
          <a:xfrm>
            <a:off x="4892035" y="1600200"/>
            <a:ext cx="36576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J+10 · donner un mandat clair et nommer les responsables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Responsable : CDO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J+30 · Définitions groupe : abonné actif, véhicule disponible, formule de disponibilité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Responsables : Owners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F2A37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J+30 · Mesurer la baseline : taux réel de doublons et de positions aberrantes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Responsables : Custodian et Steward</a:t>
            </a:r>
            <a:endParaRPr sz="1050">
              <a:solidFill>
                <a:srgbClr val="5B66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5B66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b="1" lang="en" sz="105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C’est de transformer les données que Vélocité possède déjà en décisions qu’elle peut réellement defendre.</a:t>
            </a:r>
            <a:endParaRPr b="1" sz="1050">
              <a:solidFill>
                <a:srgbClr val="5B66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3" name="Google Shape;503;p35"/>
          <p:cNvGraphicFramePr/>
          <p:nvPr/>
        </p:nvGraphicFramePr>
        <p:xfrm>
          <a:off x="457200" y="1207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{5B7C32C7-1E94-4CFC-8DFC-4D1393315D62}</a:tableStyleId>
              </a:tblPr>
              <a:tblGrid>
                <a:gridCol w="822950"/>
                <a:gridCol w="1920250"/>
                <a:gridCol w="822950"/>
                <a:gridCol w="5486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Famille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Indicateur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Principe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239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Dispositif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Indicateurs groupe avec définition et Owner publiés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100 % à M6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Dispositif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Anomalies traitées en &lt; 5 jours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90 %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Valeur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Disponibilité des stations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90 % à M12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Valeur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Écart rapport / tableau interne (trajets)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0,5 %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A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4000" marL="64000" anchor="ctr">
                    <a:lnL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6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DÉCLARATION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/>
          <p:nvPr/>
        </p:nvSpPr>
        <p:spPr>
          <a:xfrm>
            <a:off x="6949440" y="182880"/>
            <a:ext cx="1737360" cy="256032"/>
          </a:xfrm>
          <a:prstGeom prst="roundRect">
            <a:avLst>
              <a:gd fmla="val 35714" name="adj"/>
            </a:avLst>
          </a:prstGeom>
          <a:solidFill>
            <a:srgbClr val="B03A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Mamoudou SIDIBE</a:t>
            </a: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DPO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0B2239"/>
                </a:solidFill>
                <a:latin typeface="Cambria"/>
                <a:ea typeface="Cambria"/>
                <a:cs typeface="Cambria"/>
                <a:sym typeface="Cambria"/>
              </a:rPr>
              <a:t>Usage de l’IA générative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457200" y="48188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Vélocité · Gouvernance des données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6"/>
          <p:cNvSpPr txBox="1"/>
          <p:nvPr/>
        </p:nvSpPr>
        <p:spPr>
          <a:xfrm>
            <a:off x="8229600" y="48188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457200" y="1188720"/>
            <a:ext cx="8092440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9525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6"/>
          <p:cNvSpPr txBox="1"/>
          <p:nvPr/>
        </p:nvSpPr>
        <p:spPr>
          <a:xfrm>
            <a:off x="594360" y="12984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239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B2239"/>
                </a:solidFill>
                <a:latin typeface="Calibri"/>
                <a:ea typeface="Calibri"/>
                <a:cs typeface="Calibri"/>
                <a:sym typeface="Calibri"/>
              </a:rPr>
              <a:t>Outil utilisé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 txBox="1"/>
          <p:nvPr/>
        </p:nvSpPr>
        <p:spPr>
          <a:xfrm>
            <a:off x="594360" y="1691640"/>
            <a:ext cx="3657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Claude (Anthropic) Pour la structure de la présentation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fmla="val 10000" name="adj"/>
            </a:avLst>
          </a:prstGeom>
          <a:solidFill>
            <a:srgbClr val="0B2239"/>
          </a:solidFill>
          <a:ln cap="flat" cmpd="sng" w="12700">
            <a:solidFill>
              <a:srgbClr val="0B22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6"/>
          <p:cNvSpPr txBox="1"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